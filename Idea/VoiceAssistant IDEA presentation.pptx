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2" r:id="rId2"/>
    <p:sldId id="257" r:id="rId3"/>
    <p:sldId id="259" r:id="rId4"/>
    <p:sldId id="258" r:id="rId5"/>
    <p:sldId id="263" r:id="rId6"/>
    <p:sldId id="261" r:id="rId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8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01D9AF-C9BA-69FC-C4C3-8F874EECD90E}" v="11" dt="2025-10-25T07:44:53.313"/>
    <p1510:client id="{9222001C-B06F-BAC6-8E7A-44FACF7F739D}" v="121" dt="2025-10-25T09:17:35.079"/>
    <p1510:client id="{FEDD39C1-21F3-4ED0-8E74-00F28CD4F6E2}" v="27" dt="2025-10-25T08:44:40.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IN"/>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5C9316D-6771-4A3A-90B5-3C36D086E9CF}" type="datetimeFigureOut">
              <a:rPr lang="en-IN" smtClean="0"/>
              <a:t>20-11-2025</a:t>
            </a:fld>
            <a:endParaRPr lang="en-IN"/>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IN"/>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IN"/>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6D3F9EA6-E610-4190-B372-88DDDC0D4D1C}" type="slidenum">
              <a:rPr lang="en-IN" smtClean="0"/>
              <a:t>‹#›</a:t>
            </a:fld>
            <a:endParaRPr lang="en-IN"/>
          </a:p>
        </p:txBody>
      </p:sp>
    </p:spTree>
    <p:extLst>
      <p:ext uri="{BB962C8B-B14F-4D97-AF65-F5344CB8AC3E}">
        <p14:creationId xmlns:p14="http://schemas.microsoft.com/office/powerpoint/2010/main" val="565827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8BD36-37D7-E9B2-35C8-6D18816C74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98D539-1A61-EB0C-51EE-7C7ACFE1A9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B6CB56-35ED-70DB-7FBC-3DDF7821A8C9}"/>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5" name="Footer Placeholder 4">
            <a:extLst>
              <a:ext uri="{FF2B5EF4-FFF2-40B4-BE49-F238E27FC236}">
                <a16:creationId xmlns:a16="http://schemas.microsoft.com/office/drawing/2014/main" id="{DEAC8177-127D-FAB2-C477-6B31BE9718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2C0C76-6AB4-1E6C-683A-E28800EA7369}"/>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383101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48BB-AF9C-9939-CA60-8C6DA3236C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6BB9F-A894-D000-9659-BF007A5FA9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7C7D4A-EC6E-1A9E-53B0-454C3FACA450}"/>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5" name="Footer Placeholder 4">
            <a:extLst>
              <a:ext uri="{FF2B5EF4-FFF2-40B4-BE49-F238E27FC236}">
                <a16:creationId xmlns:a16="http://schemas.microsoft.com/office/drawing/2014/main" id="{433DE76A-B4DE-1373-D79E-8D10155A57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4B3BFB-9F41-14D9-8BB0-DBD848037448}"/>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3159990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BFF6-31B5-383D-DB09-AEFD908417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91A6BE-D6DD-001F-D652-ACE80E24BDE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9DBA7C-0009-496C-039F-22DCCA56426F}"/>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5" name="Footer Placeholder 4">
            <a:extLst>
              <a:ext uri="{FF2B5EF4-FFF2-40B4-BE49-F238E27FC236}">
                <a16:creationId xmlns:a16="http://schemas.microsoft.com/office/drawing/2014/main" id="{33CDEF51-4F80-A1B3-B224-F1E94180EE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6381CF-9303-8AC8-AE80-D5F6D28F9D82}"/>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3997203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B2B00-1F11-DA8D-68C3-D9A52CCC1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F67B50-D072-4130-7ADF-24A13812C4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673F7A-80BC-B6B2-AFC8-120E383E09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EDD6C9-C6B3-B9E4-F4EA-9BC03574258B}"/>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6" name="Footer Placeholder 5">
            <a:extLst>
              <a:ext uri="{FF2B5EF4-FFF2-40B4-BE49-F238E27FC236}">
                <a16:creationId xmlns:a16="http://schemas.microsoft.com/office/drawing/2014/main" id="{514ED021-4D43-014A-B682-44A14B3387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CC4AB2-3A8B-7466-F188-606F46020D14}"/>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3192320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504E-F2EA-6D00-10FB-4782A1FA24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F7BEC9-00D5-1DF1-34DD-346C1BFEF7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DD5535-F217-4829-FAE3-DAEC16F269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691F439-3873-E967-93DA-00E768E2D8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248A7D-426A-DCF8-B2D8-07C3E761C1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88CE96-5F05-C368-C145-6F848DA3122F}"/>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8" name="Footer Placeholder 7">
            <a:extLst>
              <a:ext uri="{FF2B5EF4-FFF2-40B4-BE49-F238E27FC236}">
                <a16:creationId xmlns:a16="http://schemas.microsoft.com/office/drawing/2014/main" id="{163E350C-5A37-5C5F-F405-BA100ECC05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10E0B70-C1DC-F47C-1387-76BB8671EA84}"/>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961860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7C9B-D553-9717-32BD-FF8CD802EF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CA2FE47-C5D3-806F-0390-CB773C53A169}"/>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4" name="Footer Placeholder 3">
            <a:extLst>
              <a:ext uri="{FF2B5EF4-FFF2-40B4-BE49-F238E27FC236}">
                <a16:creationId xmlns:a16="http://schemas.microsoft.com/office/drawing/2014/main" id="{6C690F09-26D3-BB2B-1B77-B03ACE16805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6605896-098A-8278-7115-D7794FBE1AD3}"/>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351284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B721D-3364-C062-F744-46A126D3B8FE}"/>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3" name="Footer Placeholder 2">
            <a:extLst>
              <a:ext uri="{FF2B5EF4-FFF2-40B4-BE49-F238E27FC236}">
                <a16:creationId xmlns:a16="http://schemas.microsoft.com/office/drawing/2014/main" id="{58869131-4A23-5A94-B51D-9DD9F3D8BC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ECAF2D-7E8E-8015-F7B0-E1F7709BDE5C}"/>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1307366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26C35-9791-589B-1046-6D791BAB5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3DA5951-2CBC-C26F-C559-E78D8CFC19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7A8905C-D276-56F4-42EA-CC909B4DB4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885B2-CCAA-E2C5-0533-8F81C12E494D}"/>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6" name="Footer Placeholder 5">
            <a:extLst>
              <a:ext uri="{FF2B5EF4-FFF2-40B4-BE49-F238E27FC236}">
                <a16:creationId xmlns:a16="http://schemas.microsoft.com/office/drawing/2014/main" id="{6B49E009-61AD-BC4F-9CC0-A3491D7A43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42D4C6-580F-A77A-6F0F-21C531C44C9E}"/>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2301711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3887D-ABF5-3BB4-091B-06070BE98C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9C3029-BC8A-B6D1-7AB1-43BF074C3C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04449E-5C0B-F650-260E-367EFC439F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CD2E12-EE2F-0AE6-4BEB-901981D42670}"/>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6" name="Footer Placeholder 5">
            <a:extLst>
              <a:ext uri="{FF2B5EF4-FFF2-40B4-BE49-F238E27FC236}">
                <a16:creationId xmlns:a16="http://schemas.microsoft.com/office/drawing/2014/main" id="{3380C2DF-8827-B3AA-A8AC-495C0F3A57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463E17-C908-BF2A-C0A2-C80A68EA7A2D}"/>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4173366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2DB0-71B8-BD13-5CD7-63844F34AD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4D8A9A-F4C0-8A9B-974D-3F3BC17984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766228-AED9-A8AF-137B-536B5E620A1B}"/>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5" name="Footer Placeholder 4">
            <a:extLst>
              <a:ext uri="{FF2B5EF4-FFF2-40B4-BE49-F238E27FC236}">
                <a16:creationId xmlns:a16="http://schemas.microsoft.com/office/drawing/2014/main" id="{AE36C184-2EAE-9D5E-F131-9409ECE4E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0279B8-F0B2-6169-C764-AF48BD17DCF2}"/>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697163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B2DE47-5458-CFE6-54AA-E5B4A3ADF7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12C38B-5C43-3B9B-63CC-BA6C5CFD88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941AD9-A3F1-8390-F7E5-2130923A85F3}"/>
              </a:ext>
            </a:extLst>
          </p:cNvPr>
          <p:cNvSpPr>
            <a:spLocks noGrp="1"/>
          </p:cNvSpPr>
          <p:nvPr>
            <p:ph type="dt" sz="half" idx="10"/>
          </p:nvPr>
        </p:nvSpPr>
        <p:spPr/>
        <p:txBody>
          <a:bodyPr/>
          <a:lstStyle/>
          <a:p>
            <a:fld id="{6DC5ED40-0D3A-4CBF-95D3-43FCD3B73C9F}" type="datetimeFigureOut">
              <a:rPr lang="en-IN" smtClean="0"/>
              <a:t>20-11-2025</a:t>
            </a:fld>
            <a:endParaRPr lang="en-IN"/>
          </a:p>
        </p:txBody>
      </p:sp>
      <p:sp>
        <p:nvSpPr>
          <p:cNvPr id="5" name="Footer Placeholder 4">
            <a:extLst>
              <a:ext uri="{FF2B5EF4-FFF2-40B4-BE49-F238E27FC236}">
                <a16:creationId xmlns:a16="http://schemas.microsoft.com/office/drawing/2014/main" id="{E8CE4360-ED6D-3C52-324D-8A4B99A425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B8871E-59BE-FF7E-A055-EB02F4163DE8}"/>
              </a:ext>
            </a:extLst>
          </p:cNvPr>
          <p:cNvSpPr>
            <a:spLocks noGrp="1"/>
          </p:cNvSpPr>
          <p:nvPr>
            <p:ph type="sldNum" sz="quarter" idx="12"/>
          </p:nvPr>
        </p:nvSpPr>
        <p:spPr/>
        <p:txBody>
          <a:bodyPr/>
          <a:lstStyle/>
          <a:p>
            <a:fld id="{ACFB5432-8235-4389-B9B4-55BD6C8B568D}" type="slidenum">
              <a:rPr lang="en-IN" smtClean="0"/>
              <a:t>‹#›</a:t>
            </a:fld>
            <a:endParaRPr lang="en-IN"/>
          </a:p>
        </p:txBody>
      </p:sp>
    </p:spTree>
    <p:extLst>
      <p:ext uri="{BB962C8B-B14F-4D97-AF65-F5344CB8AC3E}">
        <p14:creationId xmlns:p14="http://schemas.microsoft.com/office/powerpoint/2010/main" val="119555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0FF75B-2E6B-96C5-868D-E4A3A29145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02FD7D-D997-5369-8692-93DB605837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76C78-BFB9-2402-3A5D-D4E3C13F3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C5ED40-0D3A-4CBF-95D3-43FCD3B73C9F}" type="datetimeFigureOut">
              <a:rPr lang="en-IN" smtClean="0"/>
              <a:t>20-11-2025</a:t>
            </a:fld>
            <a:endParaRPr lang="en-IN"/>
          </a:p>
        </p:txBody>
      </p:sp>
      <p:sp>
        <p:nvSpPr>
          <p:cNvPr id="5" name="Footer Placeholder 4">
            <a:extLst>
              <a:ext uri="{FF2B5EF4-FFF2-40B4-BE49-F238E27FC236}">
                <a16:creationId xmlns:a16="http://schemas.microsoft.com/office/drawing/2014/main" id="{3E67B75C-D041-355F-7B46-39D6B54FB4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9D73491-5B3C-A825-9510-73408CFD73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CFB5432-8235-4389-B9B4-55BD6C8B568D}" type="slidenum">
              <a:rPr lang="en-IN" smtClean="0"/>
              <a:t>‹#›</a:t>
            </a:fld>
            <a:endParaRPr lang="en-IN"/>
          </a:p>
        </p:txBody>
      </p:sp>
    </p:spTree>
    <p:extLst>
      <p:ext uri="{BB962C8B-B14F-4D97-AF65-F5344CB8AC3E}">
        <p14:creationId xmlns:p14="http://schemas.microsoft.com/office/powerpoint/2010/main" val="2834435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discord.gg/s4qsdWS5S2"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CCCD217-5542-1C97-CBB2-E31FA8674492}"/>
              </a:ext>
            </a:extLst>
          </p:cNvPr>
          <p:cNvSpPr/>
          <p:nvPr/>
        </p:nvSpPr>
        <p:spPr>
          <a:xfrm>
            <a:off x="485775" y="405522"/>
            <a:ext cx="11220450" cy="6046956"/>
          </a:xfrm>
          <a:prstGeom prst="roundRect">
            <a:avLst>
              <a:gd name="adj" fmla="val 7849"/>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232F671-EDB0-3195-E21E-85D4A1EA53D5}"/>
              </a:ext>
            </a:extLst>
          </p:cNvPr>
          <p:cNvSpPr txBox="1"/>
          <p:nvPr/>
        </p:nvSpPr>
        <p:spPr>
          <a:xfrm>
            <a:off x="4081344" y="1909655"/>
            <a:ext cx="4029308" cy="646331"/>
          </a:xfrm>
          <a:prstGeom prst="rect">
            <a:avLst/>
          </a:prstGeom>
          <a:noFill/>
        </p:spPr>
        <p:txBody>
          <a:bodyPr wrap="none" rtlCol="0">
            <a:spAutoFit/>
          </a:bodyPr>
          <a:lstStyle/>
          <a:p>
            <a:r>
              <a:rPr lang="en-IN" sz="3600" b="1" dirty="0">
                <a:latin typeface="Felix Titling" panose="04060505060202020A04" pitchFamily="82" charset="0"/>
              </a:rPr>
              <a:t>VOICE ASSISTANT</a:t>
            </a:r>
            <a:endParaRPr lang="en-IN" sz="3500" b="1" dirty="0">
              <a:latin typeface="Felix Titling" panose="04060505060202020A04" pitchFamily="82" charset="0"/>
            </a:endParaRPr>
          </a:p>
        </p:txBody>
      </p:sp>
      <p:sp>
        <p:nvSpPr>
          <p:cNvPr id="4" name="TextBox 3">
            <a:extLst>
              <a:ext uri="{FF2B5EF4-FFF2-40B4-BE49-F238E27FC236}">
                <a16:creationId xmlns:a16="http://schemas.microsoft.com/office/drawing/2014/main" id="{9725626A-0A60-36FC-BC35-5B342CA19623}"/>
              </a:ext>
            </a:extLst>
          </p:cNvPr>
          <p:cNvSpPr txBox="1"/>
          <p:nvPr/>
        </p:nvSpPr>
        <p:spPr>
          <a:xfrm>
            <a:off x="3565455" y="3350070"/>
            <a:ext cx="5061085" cy="584775"/>
          </a:xfrm>
          <a:prstGeom prst="rect">
            <a:avLst/>
          </a:prstGeom>
          <a:noFill/>
        </p:spPr>
        <p:txBody>
          <a:bodyPr wrap="square" rtlCol="0">
            <a:spAutoFit/>
          </a:bodyPr>
          <a:lstStyle/>
          <a:p>
            <a:pPr algn="ctr"/>
            <a:r>
              <a:rPr lang="en-IN" sz="3200" dirty="0"/>
              <a:t>IDEA PRESENTING </a:t>
            </a:r>
          </a:p>
        </p:txBody>
      </p:sp>
    </p:spTree>
    <p:extLst>
      <p:ext uri="{BB962C8B-B14F-4D97-AF65-F5344CB8AC3E}">
        <p14:creationId xmlns:p14="http://schemas.microsoft.com/office/powerpoint/2010/main" val="2101879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3000">
              <a:srgbClr val="00B0F0"/>
            </a:gs>
            <a:gs pos="12000">
              <a:srgbClr val="7030A0"/>
            </a:gs>
            <a:gs pos="92000">
              <a:schemeClr val="bg1">
                <a:lumMod val="95000"/>
              </a:schemeClr>
            </a:gs>
          </a:gsLst>
          <a:lin ang="8400000" scaled="0"/>
          <a:tileRect/>
        </a:gra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F2B3491-0DB6-22F6-170E-15495E4312A1}"/>
              </a:ext>
            </a:extLst>
          </p:cNvPr>
          <p:cNvSpPr/>
          <p:nvPr/>
        </p:nvSpPr>
        <p:spPr>
          <a:xfrm>
            <a:off x="485775" y="405522"/>
            <a:ext cx="11220450" cy="6046956"/>
          </a:xfrm>
          <a:prstGeom prst="roundRect">
            <a:avLst>
              <a:gd name="adj" fmla="val 19432"/>
            </a:avLst>
          </a:prstGeom>
          <a:solidFill>
            <a:schemeClr val="bg2">
              <a:lumMod val="50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60B105CA-48F4-4F1E-53DE-BDD5BAA1D884}"/>
              </a:ext>
            </a:extLst>
          </p:cNvPr>
          <p:cNvSpPr txBox="1"/>
          <p:nvPr/>
        </p:nvSpPr>
        <p:spPr>
          <a:xfrm>
            <a:off x="869546" y="1305341"/>
            <a:ext cx="10194586" cy="4247317"/>
          </a:xfrm>
          <a:prstGeom prst="rect">
            <a:avLst/>
          </a:prstGeom>
          <a:noFill/>
        </p:spPr>
        <p:txBody>
          <a:bodyPr wrap="square" rtlCol="0">
            <a:spAutoFit/>
          </a:bodyPr>
          <a:lstStyle/>
          <a:p>
            <a:pPr lvl="1"/>
            <a:r>
              <a:rPr lang="en-US" sz="3600" b="1">
                <a:latin typeface="Felix Titling" panose="04060505060202020A04" pitchFamily="82" charset="0"/>
              </a:rPr>
              <a:t>Features:</a:t>
            </a:r>
          </a:p>
          <a:p>
            <a:endParaRPr lang="en-US" sz="3600"/>
          </a:p>
          <a:p>
            <a:pPr lvl="1"/>
            <a:r>
              <a:rPr lang="en-US" sz="3600">
                <a:latin typeface="Centaur" panose="02030504050205020304" pitchFamily="18" charset="0"/>
              </a:rPr>
              <a:t>Voice input/output</a:t>
            </a:r>
          </a:p>
          <a:p>
            <a:pPr lvl="1"/>
            <a:r>
              <a:rPr lang="en-US" sz="3600">
                <a:latin typeface="Centaur" panose="02030504050205020304" pitchFamily="18" charset="0"/>
              </a:rPr>
              <a:t>Greetings, time-date, jokes, math calculations</a:t>
            </a:r>
          </a:p>
          <a:p>
            <a:pPr lvl="1"/>
            <a:r>
              <a:rPr lang="en-US" sz="3600">
                <a:latin typeface="Centaur" panose="02030504050205020304" pitchFamily="18" charset="0"/>
              </a:rPr>
              <a:t>Weather information via API</a:t>
            </a:r>
          </a:p>
          <a:p>
            <a:pPr lvl="1"/>
            <a:r>
              <a:rPr lang="en-US" sz="3600">
                <a:latin typeface="Centaur" panose="02030504050205020304" pitchFamily="18" charset="0"/>
              </a:rPr>
              <a:t>To-do list </a:t>
            </a:r>
          </a:p>
          <a:p>
            <a:pPr lvl="1"/>
            <a:r>
              <a:rPr lang="en-US" sz="3600">
                <a:latin typeface="Centaur" panose="02030504050205020304" pitchFamily="18" charset="0"/>
              </a:rPr>
              <a:t>Mini chatbot and command analysis</a:t>
            </a:r>
          </a:p>
          <a:p>
            <a:endParaRPr lang="en-IN"/>
          </a:p>
        </p:txBody>
      </p:sp>
    </p:spTree>
    <p:extLst>
      <p:ext uri="{BB962C8B-B14F-4D97-AF65-F5344CB8AC3E}">
        <p14:creationId xmlns:p14="http://schemas.microsoft.com/office/powerpoint/2010/main" val="3316539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077A78BA-AFAC-73DF-BB10-EC892BC8886A}"/>
              </a:ext>
            </a:extLst>
          </p:cNvPr>
          <p:cNvSpPr/>
          <p:nvPr/>
        </p:nvSpPr>
        <p:spPr>
          <a:xfrm>
            <a:off x="485775" y="405522"/>
            <a:ext cx="11220450" cy="6046956"/>
          </a:xfrm>
          <a:prstGeom prst="roundRect">
            <a:avLst>
              <a:gd name="adj" fmla="val 7849"/>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A682DD1F-51B0-C210-6093-D5E37FD3686C}"/>
              </a:ext>
            </a:extLst>
          </p:cNvPr>
          <p:cNvSpPr/>
          <p:nvPr/>
        </p:nvSpPr>
        <p:spPr>
          <a:xfrm>
            <a:off x="485775" y="1937099"/>
            <a:ext cx="11138958" cy="870713"/>
          </a:xfrm>
          <a:prstGeom prst="roundRect">
            <a:avLst>
              <a:gd name="adj" fmla="val 50000"/>
            </a:avLst>
          </a:prstGeom>
          <a:solidFill>
            <a:schemeClr val="tx2">
              <a:lumMod val="10000"/>
              <a:lumOff val="90000"/>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8BBCF746-3251-A961-92E4-098FAD4B5B44}"/>
              </a:ext>
            </a:extLst>
          </p:cNvPr>
          <p:cNvSpPr/>
          <p:nvPr/>
        </p:nvSpPr>
        <p:spPr>
          <a:xfrm>
            <a:off x="485775" y="2879634"/>
            <a:ext cx="11138958" cy="640080"/>
          </a:xfrm>
          <a:prstGeom prst="roundRect">
            <a:avLst>
              <a:gd name="adj" fmla="val 50000"/>
            </a:avLst>
          </a:prstGeom>
          <a:solidFill>
            <a:schemeClr val="tx2">
              <a:lumMod val="10000"/>
              <a:lumOff val="90000"/>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 name="Table 3">
            <a:extLst>
              <a:ext uri="{FF2B5EF4-FFF2-40B4-BE49-F238E27FC236}">
                <a16:creationId xmlns:a16="http://schemas.microsoft.com/office/drawing/2014/main" id="{6173709D-5A3B-6041-287F-09AEAA634ECE}"/>
              </a:ext>
            </a:extLst>
          </p:cNvPr>
          <p:cNvGraphicFramePr>
            <a:graphicFrameLocks noGrp="1"/>
          </p:cNvGraphicFramePr>
          <p:nvPr>
            <p:extLst>
              <p:ext uri="{D42A27DB-BD31-4B8C-83A1-F6EECF244321}">
                <p14:modId xmlns:p14="http://schemas.microsoft.com/office/powerpoint/2010/main" val="2353041856"/>
              </p:ext>
            </p:extLst>
          </p:nvPr>
        </p:nvGraphicFramePr>
        <p:xfrm>
          <a:off x="655766" y="1515070"/>
          <a:ext cx="10781731" cy="365760"/>
        </p:xfrm>
        <a:graphic>
          <a:graphicData uri="http://schemas.openxmlformats.org/drawingml/2006/table">
            <a:tbl>
              <a:tblPr/>
              <a:tblGrid>
                <a:gridCol w="208280">
                  <a:extLst>
                    <a:ext uri="{9D8B030D-6E8A-4147-A177-3AD203B41FA5}">
                      <a16:colId xmlns:a16="http://schemas.microsoft.com/office/drawing/2014/main" val="369907133"/>
                    </a:ext>
                  </a:extLst>
                </a:gridCol>
                <a:gridCol w="5045687">
                  <a:extLst>
                    <a:ext uri="{9D8B030D-6E8A-4147-A177-3AD203B41FA5}">
                      <a16:colId xmlns:a16="http://schemas.microsoft.com/office/drawing/2014/main" val="86861419"/>
                    </a:ext>
                  </a:extLst>
                </a:gridCol>
                <a:gridCol w="5527764">
                  <a:extLst>
                    <a:ext uri="{9D8B030D-6E8A-4147-A177-3AD203B41FA5}">
                      <a16:colId xmlns:a16="http://schemas.microsoft.com/office/drawing/2014/main" val="4168700991"/>
                    </a:ext>
                  </a:extLst>
                </a:gridCol>
              </a:tblGrid>
              <a:tr h="0">
                <a:tc>
                  <a:txBody>
                    <a:bodyPr/>
                    <a:lstStyle/>
                    <a:p>
                      <a:pPr>
                        <a:buNone/>
                      </a:pPr>
                      <a:endParaRPr lang="en-IN" b="1" u="sng" dirty="0">
                        <a:latin typeface="Felix Titling" panose="04060505060202020A04" pitchFamily="82" charset="0"/>
                      </a:endParaRPr>
                    </a:p>
                  </a:txBody>
                  <a:tcPr anchor="ctr">
                    <a:lnL>
                      <a:noFill/>
                    </a:lnL>
                    <a:lnR>
                      <a:noFill/>
                    </a:lnR>
                    <a:lnT>
                      <a:noFill/>
                    </a:lnT>
                    <a:lnB>
                      <a:noFill/>
                    </a:lnB>
                    <a:noFill/>
                  </a:tcPr>
                </a:tc>
                <a:tc>
                  <a:txBody>
                    <a:bodyPr/>
                    <a:lstStyle/>
                    <a:p>
                      <a:pPr algn="ctr">
                        <a:buNone/>
                      </a:pPr>
                      <a:r>
                        <a:rPr lang="en-IN" b="1" u="sng" dirty="0">
                          <a:latin typeface="Felix Titling"/>
                        </a:rPr>
                        <a:t>Module </a:t>
                      </a:r>
                    </a:p>
                  </a:txBody>
                  <a:tcPr anchor="ctr">
                    <a:lnL>
                      <a:noFill/>
                    </a:lnL>
                    <a:lnR>
                      <a:noFill/>
                    </a:lnR>
                    <a:lnT>
                      <a:noFill/>
                    </a:lnT>
                    <a:lnB>
                      <a:noFill/>
                    </a:lnB>
                    <a:noFill/>
                  </a:tcPr>
                </a:tc>
                <a:tc>
                  <a:txBody>
                    <a:bodyPr/>
                    <a:lstStyle/>
                    <a:p>
                      <a:pPr algn="ctr">
                        <a:buNone/>
                      </a:pPr>
                      <a:r>
                        <a:rPr lang="en-IN" b="1" u="sng" dirty="0">
                          <a:latin typeface="Felix Titling" panose="04060505060202020A04" pitchFamily="82" charset="0"/>
                        </a:rPr>
                        <a:t>Responsibilities</a:t>
                      </a:r>
                    </a:p>
                  </a:txBody>
                  <a:tcPr anchor="ctr">
                    <a:lnL>
                      <a:noFill/>
                    </a:lnL>
                    <a:lnR>
                      <a:noFill/>
                    </a:lnR>
                    <a:lnT>
                      <a:noFill/>
                    </a:lnT>
                    <a:lnB>
                      <a:noFill/>
                    </a:lnB>
                    <a:noFill/>
                  </a:tcPr>
                </a:tc>
                <a:extLst>
                  <a:ext uri="{0D108BD9-81ED-4DB2-BD59-A6C34878D82A}">
                    <a16:rowId xmlns:a16="http://schemas.microsoft.com/office/drawing/2014/main" val="653776010"/>
                  </a:ext>
                </a:extLst>
              </a:tr>
            </a:tbl>
          </a:graphicData>
        </a:graphic>
      </p:graphicFrame>
      <p:sp>
        <p:nvSpPr>
          <p:cNvPr id="15" name="Rectangle: Rounded Corners 14">
            <a:extLst>
              <a:ext uri="{FF2B5EF4-FFF2-40B4-BE49-F238E27FC236}">
                <a16:creationId xmlns:a16="http://schemas.microsoft.com/office/drawing/2014/main" id="{D942EF0B-3E0B-8334-E2A4-F07B6F15C1F1}"/>
              </a:ext>
            </a:extLst>
          </p:cNvPr>
          <p:cNvSpPr/>
          <p:nvPr/>
        </p:nvSpPr>
        <p:spPr>
          <a:xfrm>
            <a:off x="485773" y="4589289"/>
            <a:ext cx="11138959" cy="853337"/>
          </a:xfrm>
          <a:prstGeom prst="roundRect">
            <a:avLst>
              <a:gd name="adj" fmla="val 50000"/>
            </a:avLst>
          </a:prstGeom>
          <a:solidFill>
            <a:schemeClr val="tx2">
              <a:lumMod val="10000"/>
              <a:lumOff val="90000"/>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3307C2AF-2C63-420C-9C42-F17FB7B1B9B0}"/>
              </a:ext>
            </a:extLst>
          </p:cNvPr>
          <p:cNvSpPr/>
          <p:nvPr/>
        </p:nvSpPr>
        <p:spPr>
          <a:xfrm>
            <a:off x="485775" y="3590195"/>
            <a:ext cx="11138958" cy="928613"/>
          </a:xfrm>
          <a:prstGeom prst="roundRect">
            <a:avLst>
              <a:gd name="adj" fmla="val 50000"/>
            </a:avLst>
          </a:prstGeom>
          <a:solidFill>
            <a:schemeClr val="tx2">
              <a:lumMod val="10000"/>
              <a:lumOff val="90000"/>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990C29F4-BE45-6CB7-96F2-2366B477ADB7}"/>
              </a:ext>
            </a:extLst>
          </p:cNvPr>
          <p:cNvGraphicFramePr>
            <a:graphicFrameLocks noGrp="1"/>
          </p:cNvGraphicFramePr>
          <p:nvPr>
            <p:extLst>
              <p:ext uri="{D42A27DB-BD31-4B8C-83A1-F6EECF244321}">
                <p14:modId xmlns:p14="http://schemas.microsoft.com/office/powerpoint/2010/main" val="895732333"/>
              </p:ext>
            </p:extLst>
          </p:nvPr>
        </p:nvGraphicFramePr>
        <p:xfrm>
          <a:off x="754503" y="1908965"/>
          <a:ext cx="10682994" cy="914400"/>
        </p:xfrm>
        <a:graphic>
          <a:graphicData uri="http://schemas.openxmlformats.org/drawingml/2006/table">
            <a:tbl>
              <a:tblPr/>
              <a:tblGrid>
                <a:gridCol w="208280">
                  <a:extLst>
                    <a:ext uri="{9D8B030D-6E8A-4147-A177-3AD203B41FA5}">
                      <a16:colId xmlns:a16="http://schemas.microsoft.com/office/drawing/2014/main" val="2741245258"/>
                    </a:ext>
                  </a:extLst>
                </a:gridCol>
                <a:gridCol w="4946950">
                  <a:extLst>
                    <a:ext uri="{9D8B030D-6E8A-4147-A177-3AD203B41FA5}">
                      <a16:colId xmlns:a16="http://schemas.microsoft.com/office/drawing/2014/main" val="4130811232"/>
                    </a:ext>
                  </a:extLst>
                </a:gridCol>
                <a:gridCol w="5527764">
                  <a:extLst>
                    <a:ext uri="{9D8B030D-6E8A-4147-A177-3AD203B41FA5}">
                      <a16:colId xmlns:a16="http://schemas.microsoft.com/office/drawing/2014/main" val="41256423"/>
                    </a:ext>
                  </a:extLst>
                </a:gridCol>
              </a:tblGrid>
              <a:tr h="800698">
                <a:tc>
                  <a:txBody>
                    <a:bodyPr/>
                    <a:lstStyle/>
                    <a:p>
                      <a:pPr>
                        <a:buNone/>
                      </a:pPr>
                      <a:endParaRPr lang="en-IN" dirty="0"/>
                    </a:p>
                  </a:txBody>
                  <a:tcPr anchor="ctr">
                    <a:lnL>
                      <a:noFill/>
                    </a:lnL>
                    <a:lnR>
                      <a:noFill/>
                    </a:lnR>
                    <a:lnT>
                      <a:noFill/>
                    </a:lnT>
                    <a:lnB>
                      <a:noFill/>
                    </a:lnB>
                    <a:noFill/>
                  </a:tcPr>
                </a:tc>
                <a:tc>
                  <a:txBody>
                    <a:bodyPr/>
                    <a:lstStyle/>
                    <a:p>
                      <a:pPr>
                        <a:buNone/>
                      </a:pPr>
                      <a:r>
                        <a:rPr lang="en-US" dirty="0"/>
                        <a:t>Voice Input/Output &amp; Command Processor</a:t>
                      </a:r>
                    </a:p>
                  </a:txBody>
                  <a:tcPr anchor="ctr">
                    <a:lnL>
                      <a:noFill/>
                    </a:lnL>
                    <a:lnR>
                      <a:noFill/>
                    </a:lnR>
                    <a:lnT>
                      <a:noFill/>
                    </a:lnT>
                    <a:lnB>
                      <a:noFill/>
                    </a:lnB>
                    <a:noFill/>
                  </a:tcPr>
                </a:tc>
                <a:tc>
                  <a:txBody>
                    <a:bodyPr/>
                    <a:lstStyle/>
                    <a:p>
                      <a:pPr>
                        <a:buNone/>
                      </a:pPr>
                      <a:r>
                        <a:rPr lang="en-US" dirty="0"/>
                        <a:t>Implement speech recognition, text-to-speech, process commands, modular functions, handle recursion for unknown commands.</a:t>
                      </a:r>
                    </a:p>
                  </a:txBody>
                  <a:tcPr anchor="ctr">
                    <a:lnL>
                      <a:noFill/>
                    </a:lnL>
                    <a:lnR>
                      <a:noFill/>
                    </a:lnR>
                    <a:lnT>
                      <a:noFill/>
                    </a:lnT>
                    <a:lnB>
                      <a:noFill/>
                    </a:lnB>
                    <a:noFill/>
                  </a:tcPr>
                </a:tc>
                <a:extLst>
                  <a:ext uri="{0D108BD9-81ED-4DB2-BD59-A6C34878D82A}">
                    <a16:rowId xmlns:a16="http://schemas.microsoft.com/office/drawing/2014/main" val="892761478"/>
                  </a:ext>
                </a:extLst>
              </a:tr>
            </a:tbl>
          </a:graphicData>
        </a:graphic>
      </p:graphicFrame>
      <p:sp>
        <p:nvSpPr>
          <p:cNvPr id="16" name="Rectangle: Rounded Corners 15">
            <a:extLst>
              <a:ext uri="{FF2B5EF4-FFF2-40B4-BE49-F238E27FC236}">
                <a16:creationId xmlns:a16="http://schemas.microsoft.com/office/drawing/2014/main" id="{812970D2-2056-B4A0-9854-2FDAE4F154B8}"/>
              </a:ext>
            </a:extLst>
          </p:cNvPr>
          <p:cNvSpPr/>
          <p:nvPr/>
        </p:nvSpPr>
        <p:spPr>
          <a:xfrm>
            <a:off x="485772" y="5513107"/>
            <a:ext cx="11186839" cy="895683"/>
          </a:xfrm>
          <a:prstGeom prst="roundRect">
            <a:avLst>
              <a:gd name="adj" fmla="val 50000"/>
            </a:avLst>
          </a:prstGeom>
          <a:solidFill>
            <a:schemeClr val="tx2">
              <a:lumMod val="10000"/>
              <a:lumOff val="90000"/>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Table 5">
            <a:extLst>
              <a:ext uri="{FF2B5EF4-FFF2-40B4-BE49-F238E27FC236}">
                <a16:creationId xmlns:a16="http://schemas.microsoft.com/office/drawing/2014/main" id="{9A106E6D-474B-04BC-AC6F-D6476EAD4CC8}"/>
              </a:ext>
            </a:extLst>
          </p:cNvPr>
          <p:cNvGraphicFramePr>
            <a:graphicFrameLocks noGrp="1"/>
          </p:cNvGraphicFramePr>
          <p:nvPr>
            <p:extLst>
              <p:ext uri="{D42A27DB-BD31-4B8C-83A1-F6EECF244321}">
                <p14:modId xmlns:p14="http://schemas.microsoft.com/office/powerpoint/2010/main" val="2124713295"/>
              </p:ext>
            </p:extLst>
          </p:nvPr>
        </p:nvGraphicFramePr>
        <p:xfrm>
          <a:off x="655767" y="2851500"/>
          <a:ext cx="10781731" cy="640080"/>
        </p:xfrm>
        <a:graphic>
          <a:graphicData uri="http://schemas.openxmlformats.org/drawingml/2006/table">
            <a:tbl>
              <a:tblPr/>
              <a:tblGrid>
                <a:gridCol w="208280">
                  <a:extLst>
                    <a:ext uri="{9D8B030D-6E8A-4147-A177-3AD203B41FA5}">
                      <a16:colId xmlns:a16="http://schemas.microsoft.com/office/drawing/2014/main" val="2984541039"/>
                    </a:ext>
                  </a:extLst>
                </a:gridCol>
                <a:gridCol w="5079553">
                  <a:extLst>
                    <a:ext uri="{9D8B030D-6E8A-4147-A177-3AD203B41FA5}">
                      <a16:colId xmlns:a16="http://schemas.microsoft.com/office/drawing/2014/main" val="3882068445"/>
                    </a:ext>
                  </a:extLst>
                </a:gridCol>
                <a:gridCol w="5493898">
                  <a:extLst>
                    <a:ext uri="{9D8B030D-6E8A-4147-A177-3AD203B41FA5}">
                      <a16:colId xmlns:a16="http://schemas.microsoft.com/office/drawing/2014/main" val="221549339"/>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r>
                        <a:rPr lang="en-IN" dirty="0"/>
                        <a:t>Core Commands</a:t>
                      </a:r>
                    </a:p>
                  </a:txBody>
                  <a:tcPr anchor="ctr">
                    <a:lnL>
                      <a:noFill/>
                    </a:lnL>
                    <a:lnR>
                      <a:noFill/>
                    </a:lnR>
                    <a:lnT>
                      <a:noFill/>
                    </a:lnT>
                    <a:lnB>
                      <a:noFill/>
                    </a:lnB>
                    <a:noFill/>
                  </a:tcPr>
                </a:tc>
                <a:tc>
                  <a:txBody>
                    <a:bodyPr/>
                    <a:lstStyle/>
                    <a:p>
                      <a:pPr>
                        <a:buNone/>
                      </a:pPr>
                      <a:r>
                        <a:rPr lang="en-US" dirty="0"/>
                        <a:t>Greetings, Time/Date, Jokes, Simple Math; implement logic, error handling, test outputs.</a:t>
                      </a:r>
                    </a:p>
                  </a:txBody>
                  <a:tcPr anchor="ctr">
                    <a:lnL>
                      <a:noFill/>
                    </a:lnL>
                    <a:lnR>
                      <a:noFill/>
                    </a:lnR>
                    <a:lnT>
                      <a:noFill/>
                    </a:lnT>
                    <a:lnB>
                      <a:noFill/>
                    </a:lnB>
                    <a:noFill/>
                  </a:tcPr>
                </a:tc>
                <a:extLst>
                  <a:ext uri="{0D108BD9-81ED-4DB2-BD59-A6C34878D82A}">
                    <a16:rowId xmlns:a16="http://schemas.microsoft.com/office/drawing/2014/main" val="3426002131"/>
                  </a:ext>
                </a:extLst>
              </a:tr>
            </a:tbl>
          </a:graphicData>
        </a:graphic>
      </p:graphicFrame>
      <p:graphicFrame>
        <p:nvGraphicFramePr>
          <p:cNvPr id="7" name="Table 6">
            <a:extLst>
              <a:ext uri="{FF2B5EF4-FFF2-40B4-BE49-F238E27FC236}">
                <a16:creationId xmlns:a16="http://schemas.microsoft.com/office/drawing/2014/main" id="{F73D00A6-7957-63AC-55A5-5BCED0351D55}"/>
              </a:ext>
            </a:extLst>
          </p:cNvPr>
          <p:cNvGraphicFramePr>
            <a:graphicFrameLocks noGrp="1"/>
          </p:cNvGraphicFramePr>
          <p:nvPr>
            <p:extLst>
              <p:ext uri="{D42A27DB-BD31-4B8C-83A1-F6EECF244321}">
                <p14:modId xmlns:p14="http://schemas.microsoft.com/office/powerpoint/2010/main" val="2259697503"/>
              </p:ext>
            </p:extLst>
          </p:nvPr>
        </p:nvGraphicFramePr>
        <p:xfrm>
          <a:off x="646120" y="3662054"/>
          <a:ext cx="10815778" cy="782236"/>
        </p:xfrm>
        <a:graphic>
          <a:graphicData uri="http://schemas.openxmlformats.org/drawingml/2006/table">
            <a:tbl>
              <a:tblPr/>
              <a:tblGrid>
                <a:gridCol w="208280">
                  <a:extLst>
                    <a:ext uri="{9D8B030D-6E8A-4147-A177-3AD203B41FA5}">
                      <a16:colId xmlns:a16="http://schemas.microsoft.com/office/drawing/2014/main" val="3297676298"/>
                    </a:ext>
                  </a:extLst>
                </a:gridCol>
                <a:gridCol w="5097667">
                  <a:extLst>
                    <a:ext uri="{9D8B030D-6E8A-4147-A177-3AD203B41FA5}">
                      <a16:colId xmlns:a16="http://schemas.microsoft.com/office/drawing/2014/main" val="4165125403"/>
                    </a:ext>
                  </a:extLst>
                </a:gridCol>
                <a:gridCol w="5509831">
                  <a:extLst>
                    <a:ext uri="{9D8B030D-6E8A-4147-A177-3AD203B41FA5}">
                      <a16:colId xmlns:a16="http://schemas.microsoft.com/office/drawing/2014/main" val="3680844081"/>
                    </a:ext>
                  </a:extLst>
                </a:gridCol>
              </a:tblGrid>
              <a:tr h="782236">
                <a:tc>
                  <a:txBody>
                    <a:bodyPr/>
                    <a:lstStyle/>
                    <a:p>
                      <a:pPr>
                        <a:buNone/>
                      </a:pPr>
                      <a:endParaRPr lang="en-IN" dirty="0"/>
                    </a:p>
                  </a:txBody>
                  <a:tcPr anchor="ctr">
                    <a:lnL>
                      <a:noFill/>
                    </a:lnL>
                    <a:lnR>
                      <a:noFill/>
                    </a:lnR>
                    <a:lnT>
                      <a:noFill/>
                    </a:lnT>
                    <a:lnB>
                      <a:noFill/>
                    </a:lnB>
                    <a:noFill/>
                  </a:tcPr>
                </a:tc>
                <a:tc>
                  <a:txBody>
                    <a:bodyPr/>
                    <a:lstStyle/>
                    <a:p>
                      <a:pPr>
                        <a:buNone/>
                      </a:pPr>
                      <a:r>
                        <a:rPr lang="en-IN" dirty="0"/>
                        <a:t>Advanced Commands</a:t>
                      </a:r>
                    </a:p>
                  </a:txBody>
                  <a:tcPr anchor="ctr">
                    <a:lnL>
                      <a:noFill/>
                    </a:lnL>
                    <a:lnR>
                      <a:noFill/>
                    </a:lnR>
                    <a:lnT>
                      <a:noFill/>
                    </a:lnT>
                    <a:lnB>
                      <a:noFill/>
                    </a:lnB>
                    <a:noFill/>
                  </a:tcPr>
                </a:tc>
                <a:tc>
                  <a:txBody>
                    <a:bodyPr/>
                    <a:lstStyle/>
                    <a:p>
                      <a:pPr>
                        <a:buNone/>
                      </a:pPr>
                      <a:r>
                        <a:rPr lang="en-US" dirty="0"/>
                        <a:t>Weather API, To-Do list, Notes; integrate external APIs.</a:t>
                      </a:r>
                    </a:p>
                  </a:txBody>
                  <a:tcPr anchor="ctr">
                    <a:lnL>
                      <a:noFill/>
                    </a:lnL>
                    <a:lnR>
                      <a:noFill/>
                    </a:lnR>
                    <a:lnT>
                      <a:noFill/>
                    </a:lnT>
                    <a:lnB>
                      <a:noFill/>
                    </a:lnB>
                    <a:noFill/>
                  </a:tcPr>
                </a:tc>
                <a:extLst>
                  <a:ext uri="{0D108BD9-81ED-4DB2-BD59-A6C34878D82A}">
                    <a16:rowId xmlns:a16="http://schemas.microsoft.com/office/drawing/2014/main" val="3227553955"/>
                  </a:ext>
                </a:extLst>
              </a:tr>
            </a:tbl>
          </a:graphicData>
        </a:graphic>
      </p:graphicFrame>
      <p:graphicFrame>
        <p:nvGraphicFramePr>
          <p:cNvPr id="8" name="Table 7">
            <a:extLst>
              <a:ext uri="{FF2B5EF4-FFF2-40B4-BE49-F238E27FC236}">
                <a16:creationId xmlns:a16="http://schemas.microsoft.com/office/drawing/2014/main" id="{B7BEB182-F55C-F352-8F2B-D1F90F0EE4C7}"/>
              </a:ext>
            </a:extLst>
          </p:cNvPr>
          <p:cNvGraphicFramePr>
            <a:graphicFrameLocks noGrp="1"/>
          </p:cNvGraphicFramePr>
          <p:nvPr>
            <p:extLst>
              <p:ext uri="{D42A27DB-BD31-4B8C-83A1-F6EECF244321}">
                <p14:modId xmlns:p14="http://schemas.microsoft.com/office/powerpoint/2010/main" val="898201679"/>
              </p:ext>
            </p:extLst>
          </p:nvPr>
        </p:nvGraphicFramePr>
        <p:xfrm>
          <a:off x="686834" y="4615036"/>
          <a:ext cx="10815352" cy="792154"/>
        </p:xfrm>
        <a:graphic>
          <a:graphicData uri="http://schemas.openxmlformats.org/drawingml/2006/table">
            <a:tbl>
              <a:tblPr/>
              <a:tblGrid>
                <a:gridCol w="208280">
                  <a:extLst>
                    <a:ext uri="{9D8B030D-6E8A-4147-A177-3AD203B41FA5}">
                      <a16:colId xmlns:a16="http://schemas.microsoft.com/office/drawing/2014/main" val="464842163"/>
                    </a:ext>
                  </a:extLst>
                </a:gridCol>
                <a:gridCol w="5099286">
                  <a:extLst>
                    <a:ext uri="{9D8B030D-6E8A-4147-A177-3AD203B41FA5}">
                      <a16:colId xmlns:a16="http://schemas.microsoft.com/office/drawing/2014/main" val="778830893"/>
                    </a:ext>
                  </a:extLst>
                </a:gridCol>
                <a:gridCol w="5507786">
                  <a:extLst>
                    <a:ext uri="{9D8B030D-6E8A-4147-A177-3AD203B41FA5}">
                      <a16:colId xmlns:a16="http://schemas.microsoft.com/office/drawing/2014/main" val="3111171617"/>
                    </a:ext>
                  </a:extLst>
                </a:gridCol>
              </a:tblGrid>
              <a:tr h="792154">
                <a:tc>
                  <a:txBody>
                    <a:bodyPr/>
                    <a:lstStyle/>
                    <a:p>
                      <a:pPr>
                        <a:buNone/>
                      </a:pPr>
                      <a:endParaRPr lang="en-IN" dirty="0"/>
                    </a:p>
                  </a:txBody>
                  <a:tcPr anchor="ctr">
                    <a:lnL>
                      <a:noFill/>
                    </a:lnL>
                    <a:lnR>
                      <a:noFill/>
                    </a:lnR>
                    <a:lnT>
                      <a:noFill/>
                    </a:lnT>
                    <a:lnB>
                      <a:noFill/>
                    </a:lnB>
                    <a:noFill/>
                  </a:tcPr>
                </a:tc>
                <a:tc>
                  <a:txBody>
                    <a:bodyPr/>
                    <a:lstStyle/>
                    <a:p>
                      <a:pPr>
                        <a:buNone/>
                      </a:pPr>
                      <a:r>
                        <a:rPr lang="en-IN" dirty="0"/>
                        <a:t>Data Handling</a:t>
                      </a:r>
                    </a:p>
                  </a:txBody>
                  <a:tcPr anchor="ctr">
                    <a:lnL>
                      <a:noFill/>
                    </a:lnL>
                    <a:lnR>
                      <a:noFill/>
                    </a:lnR>
                    <a:lnT>
                      <a:noFill/>
                    </a:lnT>
                    <a:lnB>
                      <a:noFill/>
                    </a:lnB>
                    <a:noFill/>
                  </a:tcPr>
                </a:tc>
                <a:tc>
                  <a:txBody>
                    <a:bodyPr/>
                    <a:lstStyle/>
                    <a:p>
                      <a:pPr>
                        <a:buNone/>
                      </a:pPr>
                      <a:r>
                        <a:rPr lang="en-US" dirty="0"/>
                        <a:t>Sorting; lists, dictionaries, sets, recursive search, testing &amp; debugging.</a:t>
                      </a:r>
                    </a:p>
                  </a:txBody>
                  <a:tcPr anchor="ctr">
                    <a:lnL>
                      <a:noFill/>
                    </a:lnL>
                    <a:lnR>
                      <a:noFill/>
                    </a:lnR>
                    <a:lnT>
                      <a:noFill/>
                    </a:lnT>
                    <a:lnB>
                      <a:noFill/>
                    </a:lnB>
                    <a:noFill/>
                  </a:tcPr>
                </a:tc>
                <a:extLst>
                  <a:ext uri="{0D108BD9-81ED-4DB2-BD59-A6C34878D82A}">
                    <a16:rowId xmlns:a16="http://schemas.microsoft.com/office/drawing/2014/main" val="3496095685"/>
                  </a:ext>
                </a:extLst>
              </a:tr>
            </a:tbl>
          </a:graphicData>
        </a:graphic>
      </p:graphicFrame>
      <p:graphicFrame>
        <p:nvGraphicFramePr>
          <p:cNvPr id="9" name="Table 8">
            <a:extLst>
              <a:ext uri="{FF2B5EF4-FFF2-40B4-BE49-F238E27FC236}">
                <a16:creationId xmlns:a16="http://schemas.microsoft.com/office/drawing/2014/main" id="{CE4660E7-92E5-D8A4-1A8C-64E680A557D3}"/>
              </a:ext>
            </a:extLst>
          </p:cNvPr>
          <p:cNvGraphicFramePr>
            <a:graphicFrameLocks noGrp="1"/>
          </p:cNvGraphicFramePr>
          <p:nvPr>
            <p:extLst>
              <p:ext uri="{D42A27DB-BD31-4B8C-83A1-F6EECF244321}">
                <p14:modId xmlns:p14="http://schemas.microsoft.com/office/powerpoint/2010/main" val="1492790288"/>
              </p:ext>
            </p:extLst>
          </p:nvPr>
        </p:nvGraphicFramePr>
        <p:xfrm>
          <a:off x="636901" y="5509918"/>
          <a:ext cx="10815353" cy="914400"/>
        </p:xfrm>
        <a:graphic>
          <a:graphicData uri="http://schemas.openxmlformats.org/drawingml/2006/table">
            <a:tbl>
              <a:tblPr/>
              <a:tblGrid>
                <a:gridCol w="208280">
                  <a:extLst>
                    <a:ext uri="{9D8B030D-6E8A-4147-A177-3AD203B41FA5}">
                      <a16:colId xmlns:a16="http://schemas.microsoft.com/office/drawing/2014/main" val="3201998932"/>
                    </a:ext>
                  </a:extLst>
                </a:gridCol>
                <a:gridCol w="5123819">
                  <a:extLst>
                    <a:ext uri="{9D8B030D-6E8A-4147-A177-3AD203B41FA5}">
                      <a16:colId xmlns:a16="http://schemas.microsoft.com/office/drawing/2014/main" val="2349981690"/>
                    </a:ext>
                  </a:extLst>
                </a:gridCol>
                <a:gridCol w="5483254">
                  <a:extLst>
                    <a:ext uri="{9D8B030D-6E8A-4147-A177-3AD203B41FA5}">
                      <a16:colId xmlns:a16="http://schemas.microsoft.com/office/drawing/2014/main" val="176941727"/>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r>
                        <a:rPr lang="en-IN" dirty="0"/>
                        <a:t>Mini Chatbot &amp; Data Analysis</a:t>
                      </a:r>
                    </a:p>
                  </a:txBody>
                  <a:tcPr anchor="ctr">
                    <a:lnL>
                      <a:noFill/>
                    </a:lnL>
                    <a:lnR>
                      <a:noFill/>
                    </a:lnR>
                    <a:lnT>
                      <a:noFill/>
                    </a:lnT>
                    <a:lnB>
                      <a:noFill/>
                    </a:lnB>
                    <a:noFill/>
                  </a:tcPr>
                </a:tc>
                <a:tc>
                  <a:txBody>
                    <a:bodyPr/>
                    <a:lstStyle/>
                    <a:p>
                      <a:pPr>
                        <a:buNone/>
                      </a:pPr>
                      <a:r>
                        <a:rPr lang="en-US" dirty="0"/>
                        <a:t>Keyword-based chatbot, analyze command usage patterns, applied computational thinking, text processing.</a:t>
                      </a:r>
                    </a:p>
                  </a:txBody>
                  <a:tcPr anchor="ctr">
                    <a:lnL>
                      <a:noFill/>
                    </a:lnL>
                    <a:lnR>
                      <a:noFill/>
                    </a:lnR>
                    <a:lnT>
                      <a:noFill/>
                    </a:lnT>
                    <a:lnB>
                      <a:noFill/>
                    </a:lnB>
                    <a:noFill/>
                  </a:tcPr>
                </a:tc>
                <a:extLst>
                  <a:ext uri="{0D108BD9-81ED-4DB2-BD59-A6C34878D82A}">
                    <a16:rowId xmlns:a16="http://schemas.microsoft.com/office/drawing/2014/main" val="474974103"/>
                  </a:ext>
                </a:extLst>
              </a:tr>
            </a:tbl>
          </a:graphicData>
        </a:graphic>
      </p:graphicFrame>
      <p:sp>
        <p:nvSpPr>
          <p:cNvPr id="18" name="Rectangle: Rounded Corners 17">
            <a:extLst>
              <a:ext uri="{FF2B5EF4-FFF2-40B4-BE49-F238E27FC236}">
                <a16:creationId xmlns:a16="http://schemas.microsoft.com/office/drawing/2014/main" id="{10267E7D-0112-A068-7E14-CEF1762E6900}"/>
              </a:ext>
            </a:extLst>
          </p:cNvPr>
          <p:cNvSpPr/>
          <p:nvPr/>
        </p:nvSpPr>
        <p:spPr>
          <a:xfrm>
            <a:off x="558800" y="478494"/>
            <a:ext cx="11065932" cy="774573"/>
          </a:xfrm>
          <a:prstGeom prst="roundRect">
            <a:avLst>
              <a:gd name="adj" fmla="val 50000"/>
            </a:avLst>
          </a:prstGeom>
          <a:solidFill>
            <a:schemeClr val="tx2">
              <a:lumMod val="10000"/>
              <a:lumOff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26B5DE1-374C-81FE-CF08-00054A7409E3}"/>
              </a:ext>
            </a:extLst>
          </p:cNvPr>
          <p:cNvSpPr txBox="1"/>
          <p:nvPr/>
        </p:nvSpPr>
        <p:spPr>
          <a:xfrm>
            <a:off x="3477960" y="627253"/>
            <a:ext cx="4831772" cy="477054"/>
          </a:xfrm>
          <a:prstGeom prst="rect">
            <a:avLst/>
          </a:prstGeom>
          <a:noFill/>
        </p:spPr>
        <p:txBody>
          <a:bodyPr wrap="none" rtlCol="0">
            <a:spAutoFit/>
          </a:bodyPr>
          <a:lstStyle/>
          <a:p>
            <a:r>
              <a:rPr lang="en-IN" sz="2500" dirty="0">
                <a:latin typeface="Felix Titling" panose="04060505060202020A04" pitchFamily="82" charset="0"/>
              </a:rPr>
              <a:t>MODULES AND WORK DONE</a:t>
            </a:r>
          </a:p>
        </p:txBody>
      </p:sp>
    </p:spTree>
    <p:extLst>
      <p:ext uri="{BB962C8B-B14F-4D97-AF65-F5344CB8AC3E}">
        <p14:creationId xmlns:p14="http://schemas.microsoft.com/office/powerpoint/2010/main" val="4210992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247F6C06-E127-388D-CCA5-09D74C0B343F}"/>
              </a:ext>
            </a:extLst>
          </p:cNvPr>
          <p:cNvSpPr/>
          <p:nvPr/>
        </p:nvSpPr>
        <p:spPr>
          <a:xfrm>
            <a:off x="485775" y="405522"/>
            <a:ext cx="11220450" cy="6046956"/>
          </a:xfrm>
          <a:prstGeom prst="roundRect">
            <a:avLst>
              <a:gd name="adj" fmla="val 7849"/>
            </a:avLst>
          </a:prstGeom>
          <a:solidFill>
            <a:schemeClr val="bg2">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92B934FB-52EF-9182-60F6-5F9BF5C44687}"/>
              </a:ext>
            </a:extLst>
          </p:cNvPr>
          <p:cNvSpPr txBox="1"/>
          <p:nvPr/>
        </p:nvSpPr>
        <p:spPr>
          <a:xfrm>
            <a:off x="4084071" y="564203"/>
            <a:ext cx="4023858" cy="584775"/>
          </a:xfrm>
          <a:prstGeom prst="rect">
            <a:avLst/>
          </a:prstGeom>
          <a:noFill/>
        </p:spPr>
        <p:txBody>
          <a:bodyPr wrap="none" rtlCol="0">
            <a:spAutoFit/>
          </a:bodyPr>
          <a:lstStyle/>
          <a:p>
            <a:r>
              <a:rPr lang="en-IN" sz="3200">
                <a:latin typeface="Felix Titling" panose="04060505060202020A04" pitchFamily="82" charset="0"/>
              </a:rPr>
              <a:t>LIBRARIES NEEDED</a:t>
            </a:r>
          </a:p>
        </p:txBody>
      </p:sp>
      <p:graphicFrame>
        <p:nvGraphicFramePr>
          <p:cNvPr id="5" name="Table 4">
            <a:extLst>
              <a:ext uri="{FF2B5EF4-FFF2-40B4-BE49-F238E27FC236}">
                <a16:creationId xmlns:a16="http://schemas.microsoft.com/office/drawing/2014/main" id="{F47F158F-150B-2FF4-3DE4-026237232ABB}"/>
              </a:ext>
            </a:extLst>
          </p:cNvPr>
          <p:cNvGraphicFramePr>
            <a:graphicFrameLocks noGrp="1"/>
          </p:cNvGraphicFramePr>
          <p:nvPr>
            <p:extLst>
              <p:ext uri="{D42A27DB-BD31-4B8C-83A1-F6EECF244321}">
                <p14:modId xmlns:p14="http://schemas.microsoft.com/office/powerpoint/2010/main" val="4157467785"/>
              </p:ext>
            </p:extLst>
          </p:nvPr>
        </p:nvGraphicFramePr>
        <p:xfrm>
          <a:off x="1655323" y="1585608"/>
          <a:ext cx="9122923" cy="4150160"/>
        </p:xfrm>
        <a:graphic>
          <a:graphicData uri="http://schemas.openxmlformats.org/drawingml/2006/table">
            <a:tbl>
              <a:tblPr/>
              <a:tblGrid>
                <a:gridCol w="3164703">
                  <a:extLst>
                    <a:ext uri="{9D8B030D-6E8A-4147-A177-3AD203B41FA5}">
                      <a16:colId xmlns:a16="http://schemas.microsoft.com/office/drawing/2014/main" val="2444134287"/>
                    </a:ext>
                  </a:extLst>
                </a:gridCol>
                <a:gridCol w="5958220">
                  <a:extLst>
                    <a:ext uri="{9D8B030D-6E8A-4147-A177-3AD203B41FA5}">
                      <a16:colId xmlns:a16="http://schemas.microsoft.com/office/drawing/2014/main" val="3043876018"/>
                    </a:ext>
                  </a:extLst>
                </a:gridCol>
              </a:tblGrid>
              <a:tr h="830032">
                <a:tc>
                  <a:txBody>
                    <a:bodyPr/>
                    <a:lstStyle/>
                    <a:p>
                      <a:pPr algn="l">
                        <a:buNone/>
                      </a:pPr>
                      <a:r>
                        <a:rPr lang="en-IN" sz="2000" u="sng">
                          <a:latin typeface="Felix Titling" panose="04060505060202020A04" pitchFamily="82" charset="0"/>
                        </a:rPr>
                        <a:t>Library</a:t>
                      </a:r>
                    </a:p>
                  </a:txBody>
                  <a:tcPr anchor="ctr">
                    <a:lnL>
                      <a:noFill/>
                    </a:lnL>
                    <a:lnR>
                      <a:noFill/>
                    </a:lnR>
                    <a:lnT>
                      <a:noFill/>
                    </a:lnT>
                    <a:lnB>
                      <a:noFill/>
                    </a:lnB>
                    <a:noFill/>
                  </a:tcPr>
                </a:tc>
                <a:tc>
                  <a:txBody>
                    <a:bodyPr/>
                    <a:lstStyle/>
                    <a:p>
                      <a:pPr algn="l">
                        <a:buNone/>
                      </a:pPr>
                      <a:r>
                        <a:rPr lang="en-IN" sz="2000" u="sng">
                          <a:latin typeface="Felix Titling" panose="04060505060202020A04" pitchFamily="82" charset="0"/>
                        </a:rPr>
                        <a:t>Purpose</a:t>
                      </a:r>
                    </a:p>
                  </a:txBody>
                  <a:tcPr anchor="ctr">
                    <a:lnL>
                      <a:noFill/>
                    </a:lnL>
                    <a:lnR>
                      <a:noFill/>
                    </a:lnR>
                    <a:lnT>
                      <a:noFill/>
                    </a:lnT>
                    <a:lnB>
                      <a:noFill/>
                    </a:lnB>
                    <a:noFill/>
                  </a:tcPr>
                </a:tc>
                <a:extLst>
                  <a:ext uri="{0D108BD9-81ED-4DB2-BD59-A6C34878D82A}">
                    <a16:rowId xmlns:a16="http://schemas.microsoft.com/office/drawing/2014/main" val="3475822096"/>
                  </a:ext>
                </a:extLst>
              </a:tr>
              <a:tr h="830032">
                <a:tc>
                  <a:txBody>
                    <a:bodyPr/>
                    <a:lstStyle/>
                    <a:p>
                      <a:pPr algn="l">
                        <a:buNone/>
                      </a:pPr>
                      <a:r>
                        <a:rPr lang="en-IN" sz="2000" b="1" err="1"/>
                        <a:t>SpeechRecognition</a:t>
                      </a:r>
                      <a:endParaRPr lang="en-IN" sz="2000"/>
                    </a:p>
                  </a:txBody>
                  <a:tcPr anchor="ctr">
                    <a:lnL>
                      <a:noFill/>
                    </a:lnL>
                    <a:lnR>
                      <a:noFill/>
                    </a:lnR>
                    <a:lnT>
                      <a:noFill/>
                    </a:lnT>
                    <a:lnB>
                      <a:noFill/>
                    </a:lnB>
                    <a:noFill/>
                  </a:tcPr>
                </a:tc>
                <a:tc>
                  <a:txBody>
                    <a:bodyPr/>
                    <a:lstStyle/>
                    <a:p>
                      <a:pPr algn="l">
                        <a:buNone/>
                      </a:pPr>
                      <a:r>
                        <a:rPr lang="en-IN" sz="2000"/>
                        <a:t>Converts speech → text (STT)</a:t>
                      </a:r>
                    </a:p>
                  </a:txBody>
                  <a:tcPr anchor="ctr">
                    <a:lnL>
                      <a:noFill/>
                    </a:lnL>
                    <a:lnR>
                      <a:noFill/>
                    </a:lnR>
                    <a:lnT>
                      <a:noFill/>
                    </a:lnT>
                    <a:lnB>
                      <a:noFill/>
                    </a:lnB>
                    <a:noFill/>
                  </a:tcPr>
                </a:tc>
                <a:extLst>
                  <a:ext uri="{0D108BD9-81ED-4DB2-BD59-A6C34878D82A}">
                    <a16:rowId xmlns:a16="http://schemas.microsoft.com/office/drawing/2014/main" val="2065168539"/>
                  </a:ext>
                </a:extLst>
              </a:tr>
              <a:tr h="830032">
                <a:tc>
                  <a:txBody>
                    <a:bodyPr/>
                    <a:lstStyle/>
                    <a:p>
                      <a:pPr algn="l">
                        <a:buNone/>
                      </a:pPr>
                      <a:r>
                        <a:rPr lang="en-IN" sz="2000" b="1" err="1"/>
                        <a:t>PyAudio</a:t>
                      </a:r>
                      <a:endParaRPr lang="en-IN" sz="2000"/>
                    </a:p>
                  </a:txBody>
                  <a:tcPr anchor="ctr">
                    <a:lnL>
                      <a:noFill/>
                    </a:lnL>
                    <a:lnR>
                      <a:noFill/>
                    </a:lnR>
                    <a:lnT>
                      <a:noFill/>
                    </a:lnT>
                    <a:lnB>
                      <a:noFill/>
                    </a:lnB>
                    <a:noFill/>
                  </a:tcPr>
                </a:tc>
                <a:tc>
                  <a:txBody>
                    <a:bodyPr/>
                    <a:lstStyle/>
                    <a:p>
                      <a:pPr algn="l">
                        <a:buNone/>
                      </a:pPr>
                      <a:r>
                        <a:rPr lang="en-IN" sz="2000"/>
                        <a:t>Access microphone audio stream</a:t>
                      </a:r>
                    </a:p>
                  </a:txBody>
                  <a:tcPr anchor="ctr">
                    <a:lnL>
                      <a:noFill/>
                    </a:lnL>
                    <a:lnR>
                      <a:noFill/>
                    </a:lnR>
                    <a:lnT>
                      <a:noFill/>
                    </a:lnT>
                    <a:lnB>
                      <a:noFill/>
                    </a:lnB>
                    <a:noFill/>
                  </a:tcPr>
                </a:tc>
                <a:extLst>
                  <a:ext uri="{0D108BD9-81ED-4DB2-BD59-A6C34878D82A}">
                    <a16:rowId xmlns:a16="http://schemas.microsoft.com/office/drawing/2014/main" val="4014154544"/>
                  </a:ext>
                </a:extLst>
              </a:tr>
              <a:tr h="830032">
                <a:tc>
                  <a:txBody>
                    <a:bodyPr/>
                    <a:lstStyle/>
                    <a:p>
                      <a:pPr algn="l">
                        <a:buNone/>
                      </a:pPr>
                      <a:r>
                        <a:rPr lang="en-IN" sz="2000" b="1" dirty="0"/>
                        <a:t>pyttsx3</a:t>
                      </a:r>
                      <a:endParaRPr lang="en-IN" sz="2000" dirty="0"/>
                    </a:p>
                  </a:txBody>
                  <a:tcPr anchor="ctr">
                    <a:lnL>
                      <a:noFill/>
                    </a:lnL>
                    <a:lnR>
                      <a:noFill/>
                    </a:lnR>
                    <a:lnT>
                      <a:noFill/>
                    </a:lnT>
                    <a:lnB>
                      <a:noFill/>
                    </a:lnB>
                    <a:noFill/>
                  </a:tcPr>
                </a:tc>
                <a:tc>
                  <a:txBody>
                    <a:bodyPr/>
                    <a:lstStyle/>
                    <a:p>
                      <a:pPr algn="l">
                        <a:buNone/>
                      </a:pPr>
                      <a:r>
                        <a:rPr lang="en-IN" sz="2000"/>
                        <a:t>Text → speech (TTS) offline</a:t>
                      </a:r>
                    </a:p>
                  </a:txBody>
                  <a:tcPr anchor="ctr">
                    <a:lnL>
                      <a:noFill/>
                    </a:lnL>
                    <a:lnR>
                      <a:noFill/>
                    </a:lnR>
                    <a:lnT>
                      <a:noFill/>
                    </a:lnT>
                    <a:lnB>
                      <a:noFill/>
                    </a:lnB>
                    <a:noFill/>
                  </a:tcPr>
                </a:tc>
                <a:extLst>
                  <a:ext uri="{0D108BD9-81ED-4DB2-BD59-A6C34878D82A}">
                    <a16:rowId xmlns:a16="http://schemas.microsoft.com/office/drawing/2014/main" val="3575764937"/>
                  </a:ext>
                </a:extLst>
              </a:tr>
              <a:tr h="830032">
                <a:tc>
                  <a:txBody>
                    <a:bodyPr/>
                    <a:lstStyle/>
                    <a:p>
                      <a:pPr algn="l">
                        <a:buNone/>
                      </a:pPr>
                      <a:r>
                        <a:rPr lang="en-IN" sz="2000" b="1"/>
                        <a:t>Requests</a:t>
                      </a:r>
                      <a:endParaRPr lang="en-IN" sz="2000"/>
                    </a:p>
                  </a:txBody>
                  <a:tcPr anchor="ctr">
                    <a:lnL>
                      <a:noFill/>
                    </a:lnL>
                    <a:lnR>
                      <a:noFill/>
                    </a:lnR>
                    <a:lnT>
                      <a:noFill/>
                    </a:lnT>
                    <a:lnB>
                      <a:noFill/>
                    </a:lnB>
                    <a:noFill/>
                  </a:tcPr>
                </a:tc>
                <a:tc>
                  <a:txBody>
                    <a:bodyPr/>
                    <a:lstStyle/>
                    <a:p>
                      <a:pPr algn="l">
                        <a:buNone/>
                      </a:pPr>
                      <a:r>
                        <a:rPr lang="en-US" sz="2000" dirty="0"/>
                        <a:t>To call external APIs (e.g., weather)</a:t>
                      </a:r>
                    </a:p>
                  </a:txBody>
                  <a:tcPr anchor="ctr">
                    <a:lnL>
                      <a:noFill/>
                    </a:lnL>
                    <a:lnR>
                      <a:noFill/>
                    </a:lnR>
                    <a:lnT>
                      <a:noFill/>
                    </a:lnT>
                    <a:lnB>
                      <a:noFill/>
                    </a:lnB>
                    <a:noFill/>
                  </a:tcPr>
                </a:tc>
                <a:extLst>
                  <a:ext uri="{0D108BD9-81ED-4DB2-BD59-A6C34878D82A}">
                    <a16:rowId xmlns:a16="http://schemas.microsoft.com/office/drawing/2014/main" val="1445502411"/>
                  </a:ext>
                </a:extLst>
              </a:tr>
            </a:tbl>
          </a:graphicData>
        </a:graphic>
      </p:graphicFrame>
    </p:spTree>
    <p:extLst>
      <p:ext uri="{BB962C8B-B14F-4D97-AF65-F5344CB8AC3E}">
        <p14:creationId xmlns:p14="http://schemas.microsoft.com/office/powerpoint/2010/main" val="103799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672C7DF-2C50-8839-DC3C-75012DA90D89}"/>
              </a:ext>
            </a:extLst>
          </p:cNvPr>
          <p:cNvSpPr/>
          <p:nvPr/>
        </p:nvSpPr>
        <p:spPr>
          <a:xfrm>
            <a:off x="485775" y="405522"/>
            <a:ext cx="11220450" cy="6046956"/>
          </a:xfrm>
          <a:prstGeom prst="roundRect">
            <a:avLst>
              <a:gd name="adj" fmla="val 7849"/>
            </a:avLst>
          </a:prstGeom>
          <a:solidFill>
            <a:schemeClr val="bg2">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EFBCC623-246B-42E2-F391-5F2339F80774}"/>
              </a:ext>
            </a:extLst>
          </p:cNvPr>
          <p:cNvSpPr/>
          <p:nvPr/>
        </p:nvSpPr>
        <p:spPr>
          <a:xfrm>
            <a:off x="965200" y="4061743"/>
            <a:ext cx="9931402" cy="1687124"/>
          </a:xfrm>
          <a:prstGeom prst="roundRect">
            <a:avLst>
              <a:gd name="adj" fmla="val 29834"/>
            </a:avLst>
          </a:prstGeom>
          <a:solidFill>
            <a:schemeClr val="tx2">
              <a:lumMod val="10000"/>
              <a:lumOff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4A4BFD52-A41D-E96C-6F65-D93C30DE8E73}"/>
              </a:ext>
            </a:extLst>
          </p:cNvPr>
          <p:cNvSpPr/>
          <p:nvPr/>
        </p:nvSpPr>
        <p:spPr>
          <a:xfrm>
            <a:off x="965200" y="1703452"/>
            <a:ext cx="9931401" cy="1167660"/>
          </a:xfrm>
          <a:prstGeom prst="roundRect">
            <a:avLst>
              <a:gd name="adj" fmla="val 37673"/>
            </a:avLst>
          </a:prstGeom>
          <a:solidFill>
            <a:schemeClr val="tx2">
              <a:lumMod val="10000"/>
              <a:lumOff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542FBC0-812B-63C5-36C8-67DF924D9FEF}"/>
              </a:ext>
            </a:extLst>
          </p:cNvPr>
          <p:cNvSpPr txBox="1"/>
          <p:nvPr/>
        </p:nvSpPr>
        <p:spPr>
          <a:xfrm>
            <a:off x="651934" y="928881"/>
            <a:ext cx="4270464" cy="369332"/>
          </a:xfrm>
          <a:prstGeom prst="rect">
            <a:avLst/>
          </a:prstGeom>
          <a:noFill/>
        </p:spPr>
        <p:txBody>
          <a:bodyPr wrap="none" rtlCol="0">
            <a:spAutoFit/>
          </a:bodyPr>
          <a:lstStyle/>
          <a:p>
            <a:r>
              <a:rPr lang="en-IN" b="1">
                <a:latin typeface="Felix Titling" panose="04060505060202020A04" pitchFamily="82" charset="0"/>
              </a:rPr>
              <a:t>Why Chat bot feature is added?</a:t>
            </a:r>
          </a:p>
        </p:txBody>
      </p:sp>
      <p:sp>
        <p:nvSpPr>
          <p:cNvPr id="4" name="TextBox 3">
            <a:extLst>
              <a:ext uri="{FF2B5EF4-FFF2-40B4-BE49-F238E27FC236}">
                <a16:creationId xmlns:a16="http://schemas.microsoft.com/office/drawing/2014/main" id="{378C9160-816E-1275-B8C8-BEC44AD09D83}"/>
              </a:ext>
            </a:extLst>
          </p:cNvPr>
          <p:cNvSpPr txBox="1"/>
          <p:nvPr/>
        </p:nvSpPr>
        <p:spPr>
          <a:xfrm>
            <a:off x="651934" y="3276351"/>
            <a:ext cx="5083571" cy="430887"/>
          </a:xfrm>
          <a:prstGeom prst="rect">
            <a:avLst/>
          </a:prstGeom>
          <a:noFill/>
        </p:spPr>
        <p:txBody>
          <a:bodyPr wrap="none" rtlCol="0">
            <a:spAutoFit/>
          </a:bodyPr>
          <a:lstStyle/>
          <a:p>
            <a:r>
              <a:rPr lang="en-IN" sz="2200" b="1" dirty="0">
                <a:latin typeface="Felix Titling" panose="04060505060202020A04" pitchFamily="82" charset="0"/>
              </a:rPr>
              <a:t>Why have I chosen this project?</a:t>
            </a:r>
          </a:p>
        </p:txBody>
      </p:sp>
      <p:sp>
        <p:nvSpPr>
          <p:cNvPr id="5" name="TextBox 4">
            <a:extLst>
              <a:ext uri="{FF2B5EF4-FFF2-40B4-BE49-F238E27FC236}">
                <a16:creationId xmlns:a16="http://schemas.microsoft.com/office/drawing/2014/main" id="{B8D7961A-D881-33EF-CE06-06CEE51762CD}"/>
              </a:ext>
            </a:extLst>
          </p:cNvPr>
          <p:cNvSpPr txBox="1"/>
          <p:nvPr/>
        </p:nvSpPr>
        <p:spPr>
          <a:xfrm>
            <a:off x="1157032" y="4112477"/>
            <a:ext cx="9739569" cy="1554272"/>
          </a:xfrm>
          <a:prstGeom prst="rect">
            <a:avLst/>
          </a:prstGeom>
          <a:noFill/>
        </p:spPr>
        <p:txBody>
          <a:bodyPr wrap="square" lIns="91440" tIns="45720" rIns="91440" bIns="45720" rtlCol="0" anchor="t">
            <a:spAutoFit/>
          </a:bodyPr>
          <a:lstStyle/>
          <a:p>
            <a:r>
              <a:rPr lang="en-US" sz="1900" dirty="0">
                <a:latin typeface="Bookman Old Style"/>
              </a:rPr>
              <a:t>      I have chosen this project because a voice-based assistant is practical, innovative, and reflects real-world technology that we all use today. It allowed us to apply multiple concepts from our syllabus—like algorithms, file handling, API usage, and modular programming—in one integrated project. It is innovative, user-friendly, and helps us learn future-ready skills.</a:t>
            </a:r>
            <a:endParaRPr lang="en-IN" sz="1900" dirty="0">
              <a:latin typeface="Bookman Old Style"/>
            </a:endParaRPr>
          </a:p>
        </p:txBody>
      </p:sp>
      <p:sp>
        <p:nvSpPr>
          <p:cNvPr id="6" name="TextBox 5">
            <a:extLst>
              <a:ext uri="{FF2B5EF4-FFF2-40B4-BE49-F238E27FC236}">
                <a16:creationId xmlns:a16="http://schemas.microsoft.com/office/drawing/2014/main" id="{26D2710C-A907-3ED1-8F25-D93D681D32AE}"/>
              </a:ext>
            </a:extLst>
          </p:cNvPr>
          <p:cNvSpPr txBox="1"/>
          <p:nvPr/>
        </p:nvSpPr>
        <p:spPr>
          <a:xfrm>
            <a:off x="1157032" y="1802534"/>
            <a:ext cx="9739569" cy="969496"/>
          </a:xfrm>
          <a:prstGeom prst="rect">
            <a:avLst/>
          </a:prstGeom>
          <a:noFill/>
        </p:spPr>
        <p:txBody>
          <a:bodyPr wrap="square" rtlCol="0">
            <a:spAutoFit/>
          </a:bodyPr>
          <a:lstStyle/>
          <a:p>
            <a:r>
              <a:rPr lang="en-US" sz="1900">
                <a:latin typeface="Bookman Old Style" panose="02050604050505020204" pitchFamily="18" charset="0"/>
              </a:rPr>
              <a:t>     We added a chatbot feature to make the voice assistant more interactive. If a user asks something outside predefined commands, the chatbot ensures the assistant still responds meaningfully instead of failing.</a:t>
            </a:r>
            <a:endParaRPr lang="en-IN" sz="1900">
              <a:latin typeface="Bookman Old Style" panose="02050604050505020204" pitchFamily="18" charset="0"/>
            </a:endParaRPr>
          </a:p>
        </p:txBody>
      </p:sp>
    </p:spTree>
    <p:extLst>
      <p:ext uri="{BB962C8B-B14F-4D97-AF65-F5344CB8AC3E}">
        <p14:creationId xmlns:p14="http://schemas.microsoft.com/office/powerpoint/2010/main" val="44626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40">
          <a:fgClr>
            <a:schemeClr val="bg1"/>
          </a:fgClr>
          <a:bgClr>
            <a:schemeClr val="bg1">
              <a:lumMod val="75000"/>
            </a:schemeClr>
          </a:bgClr>
        </a:patt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FD0306-772D-C0B1-5606-76B096D29E06}"/>
              </a:ext>
            </a:extLst>
          </p:cNvPr>
          <p:cNvSpPr txBox="1"/>
          <p:nvPr/>
        </p:nvSpPr>
        <p:spPr>
          <a:xfrm>
            <a:off x="3993501" y="2890391"/>
            <a:ext cx="4204997" cy="1077218"/>
          </a:xfrm>
          <a:prstGeom prst="rect">
            <a:avLst/>
          </a:prstGeom>
          <a:noFill/>
        </p:spPr>
        <p:txBody>
          <a:bodyPr wrap="none" rtlCol="0">
            <a:spAutoFit/>
          </a:bodyPr>
          <a:lstStyle/>
          <a:p>
            <a:r>
              <a:rPr lang="en-US" sz="6400" b="1" dirty="0"/>
              <a:t>Thank you.</a:t>
            </a:r>
            <a:endParaRPr lang="en-IN" sz="6400" b="1" dirty="0"/>
          </a:p>
        </p:txBody>
      </p:sp>
      <p:sp>
        <p:nvSpPr>
          <p:cNvPr id="3" name="TextBox 2">
            <a:extLst>
              <a:ext uri="{FF2B5EF4-FFF2-40B4-BE49-F238E27FC236}">
                <a16:creationId xmlns:a16="http://schemas.microsoft.com/office/drawing/2014/main" id="{ED3397E8-32FA-8A15-494E-5074EA237485}"/>
              </a:ext>
            </a:extLst>
          </p:cNvPr>
          <p:cNvSpPr txBox="1"/>
          <p:nvPr/>
        </p:nvSpPr>
        <p:spPr>
          <a:xfrm>
            <a:off x="3650489" y="5384800"/>
            <a:ext cx="4891019" cy="369332"/>
          </a:xfrm>
          <a:prstGeom prst="rect">
            <a:avLst/>
          </a:prstGeom>
          <a:noFill/>
        </p:spPr>
        <p:txBody>
          <a:bodyPr wrap="none" rtlCol="0">
            <a:spAutoFit/>
          </a:bodyPr>
          <a:lstStyle/>
          <a:p>
            <a:r>
              <a:rPr lang="en-IN" dirty="0"/>
              <a:t>CONTACT ME : </a:t>
            </a:r>
            <a:r>
              <a:rPr lang="en-IN" dirty="0">
                <a:hlinkClick r:id="rId2"/>
              </a:rPr>
              <a:t>https://discord.gg/s4qsdWS5S2</a:t>
            </a:r>
            <a:r>
              <a:rPr lang="en-IN" dirty="0"/>
              <a:t>  </a:t>
            </a:r>
          </a:p>
        </p:txBody>
      </p:sp>
      <p:sp>
        <p:nvSpPr>
          <p:cNvPr id="4" name="TextBox 3">
            <a:extLst>
              <a:ext uri="{FF2B5EF4-FFF2-40B4-BE49-F238E27FC236}">
                <a16:creationId xmlns:a16="http://schemas.microsoft.com/office/drawing/2014/main" id="{A1A39332-CD0F-7942-5109-4BA1FAF77C2A}"/>
              </a:ext>
            </a:extLst>
          </p:cNvPr>
          <p:cNvSpPr txBox="1"/>
          <p:nvPr/>
        </p:nvSpPr>
        <p:spPr>
          <a:xfrm>
            <a:off x="4533134" y="5833533"/>
            <a:ext cx="3125727" cy="369332"/>
          </a:xfrm>
          <a:prstGeom prst="rect">
            <a:avLst/>
          </a:prstGeom>
          <a:noFill/>
        </p:spPr>
        <p:txBody>
          <a:bodyPr wrap="none" rtlCol="0">
            <a:spAutoFit/>
          </a:bodyPr>
          <a:lstStyle/>
          <a:p>
            <a:r>
              <a:rPr lang="en-IN" dirty="0"/>
              <a:t>PROJECT DONE BY : P-VARUN</a:t>
            </a:r>
          </a:p>
        </p:txBody>
      </p:sp>
    </p:spTree>
    <p:extLst>
      <p:ext uri="{BB962C8B-B14F-4D97-AF65-F5344CB8AC3E}">
        <p14:creationId xmlns:p14="http://schemas.microsoft.com/office/powerpoint/2010/main" val="2365110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304</Words>
  <Application>Microsoft Office PowerPoint</Application>
  <PresentationFormat>Widescreen</PresentationFormat>
  <Paragraphs>40</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Aptos Display</vt:lpstr>
      <vt:lpstr>Arial</vt:lpstr>
      <vt:lpstr>Bookman Old Style</vt:lpstr>
      <vt:lpstr>Centaur</vt:lpstr>
      <vt:lpstr>Felix Titling</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Varun Paleru</dc:creator>
  <cp:lastModifiedBy>Varun Paleru</cp:lastModifiedBy>
  <cp:revision>2</cp:revision>
  <cp:lastPrinted>2025-10-24T16:21:58Z</cp:lastPrinted>
  <dcterms:created xsi:type="dcterms:W3CDTF">2025-10-24T10:53:21Z</dcterms:created>
  <dcterms:modified xsi:type="dcterms:W3CDTF">2025-11-20T13:19:20Z</dcterms:modified>
</cp:coreProperties>
</file>